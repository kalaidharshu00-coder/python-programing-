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71" r:id="rId2"/>
    <p:sldId id="256" r:id="rId3"/>
    <p:sldId id="257" r:id="rId4"/>
    <p:sldId id="258" r:id="rId5"/>
    <p:sldId id="270" r:id="rId6"/>
    <p:sldId id="259" r:id="rId7"/>
    <p:sldId id="272" r:id="rId8"/>
    <p:sldId id="273" r:id="rId9"/>
    <p:sldId id="274" r:id="rId10"/>
    <p:sldId id="275" r:id="rId11"/>
    <p:sldId id="276" r:id="rId12"/>
    <p:sldId id="260" r:id="rId13"/>
    <p:sldId id="277" r:id="rId14"/>
    <p:sldId id="267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2837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23F64BC7-2C87-483D-8126-1571582E98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headEnd/>
            <a:tailEnd/>
          </a:ln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417BCAEA-57D9-FF64-824F-752BB422CA2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ts val="1100"/>
              <a:buFont typeface="Arial" panose="020B0604020202020204" pitchFamily="34" charset="0"/>
              <a:buChar char="●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873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5549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d1057461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fd1057461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185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7722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D79CEF68-5E93-3E4E-B7DD-64AFDC9A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>
            <a:extLst>
              <a:ext uri="{FF2B5EF4-FFF2-40B4-BE49-F238E27FC236}">
                <a16:creationId xmlns:a16="http://schemas.microsoft.com/office/drawing/2014/main" id="{5B53010E-8998-92F5-E287-D6A552990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>
            <a:extLst>
              <a:ext uri="{FF2B5EF4-FFF2-40B4-BE49-F238E27FC236}">
                <a16:creationId xmlns:a16="http://schemas.microsoft.com/office/drawing/2014/main" id="{C10E95EB-6593-17F0-871A-BF22D08E1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764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d1057461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d1057461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642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1057461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1057461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118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d1057461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d1057461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26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50A1B5E-3E5A-FE16-A2CA-208539DCB9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400800" y="4767263"/>
            <a:ext cx="2289175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A6DFB2D-6287-4387-9392-754C26A43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898775" y="4767263"/>
            <a:ext cx="3505200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r>
              <a:rPr lang="en-US" altLang="en-US"/>
              <a:t>EGB1201 – JAVA PROGRAMMING –PROJECT REVIEW 1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1CC88B6-4F22-9915-F447-6DDCD81CC9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49557-650C-4E1E-88E1-6690AA61EE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77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4E6930A5-9B8F-1E53-84C7-121ACA8BB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03512"/>
            <a:ext cx="8839200" cy="30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 bIns="0" anchor="b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500" b="1" dirty="0">
              <a:solidFill>
                <a:srgbClr val="3F3F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</a:t>
            </a:r>
          </a:p>
          <a:p>
            <a:pPr algn="ctr"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2026 – 2027 (Odd Semester)</a:t>
            </a:r>
          </a:p>
          <a:p>
            <a:pPr algn="ctr" eaLnBrk="1" hangingPunct="1"/>
            <a:endParaRPr lang="en-US" alt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			: II</a:t>
            </a: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		: III</a:t>
            </a: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		: B</a:t>
            </a: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			: 05.10.2026</a:t>
            </a:r>
          </a:p>
        </p:txBody>
      </p:sp>
      <p:sp>
        <p:nvSpPr>
          <p:cNvPr id="6147" name="Slide Number Placeholder 3">
            <a:extLst>
              <a:ext uri="{FF2B5EF4-FFF2-40B4-BE49-F238E27FC236}">
                <a16:creationId xmlns:a16="http://schemas.microsoft.com/office/drawing/2014/main" id="{FED27C9B-7D0B-508A-EC22-2D8A3DF5C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7C3B18-1B13-4272-916E-3B8D6A992976}" type="slidenum">
              <a:rPr lang="en-US" altLang="en-US" sz="1000">
                <a:solidFill>
                  <a:srgbClr val="595959"/>
                </a:solidFill>
              </a:rPr>
              <a:pPr/>
              <a:t>1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4D8D35-1749-350A-51CB-9EDDD8A2C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pPr>
            <a:r>
              <a:rPr lang="en-US" sz="2400" b="1" dirty="0">
                <a:solidFill>
                  <a:schemeClr val="dk1"/>
                </a:solidFill>
                <a:sym typeface="Arial"/>
              </a:rPr>
              <a:t>AGI1242 – MACHINE LEARNING TECHNIQUES</a:t>
            </a:r>
          </a:p>
        </p:txBody>
      </p:sp>
      <p:pic>
        <p:nvPicPr>
          <p:cNvPr id="6150" name="Picture 7">
            <a:extLst>
              <a:ext uri="{FF2B5EF4-FFF2-40B4-BE49-F238E27FC236}">
                <a16:creationId xmlns:a16="http://schemas.microsoft.com/office/drawing/2014/main" id="{50258EFD-0431-AABF-DA1F-0D1979DAF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397"/>
          <a:stretch>
            <a:fillRect/>
          </a:stretch>
        </p:blipFill>
        <p:spPr bwMode="auto">
          <a:xfrm>
            <a:off x="258763" y="0"/>
            <a:ext cx="1023937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Google Shape;64;p14">
            <a:extLst>
              <a:ext uri="{FF2B5EF4-FFF2-40B4-BE49-F238E27FC236}">
                <a16:creationId xmlns:a16="http://schemas.microsoft.com/office/drawing/2014/main" id="{69403B3C-15A8-86DB-2787-7DE8F59E1DE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263" y="157163"/>
            <a:ext cx="76358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3ED068-8E6B-BDB5-966A-FCA6B7E33849}"/>
              </a:ext>
            </a:extLst>
          </p:cNvPr>
          <p:cNvSpPr txBox="1"/>
          <p:nvPr/>
        </p:nvSpPr>
        <p:spPr>
          <a:xfrm>
            <a:off x="5003181" y="3531219"/>
            <a:ext cx="41408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1)2503811724321092 – SANTHOSH AR</a:t>
            </a:r>
          </a:p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2)2503811724322105 – SUBHASHINI A</a:t>
            </a:r>
          </a:p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3)2503811724322106 – SUBHIKSHA C</a:t>
            </a:r>
          </a:p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4)2503811724321107 – SUBISH M</a:t>
            </a:r>
          </a:p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5)2503811724322117 – VIJAYADHARSHINI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256400"/>
            <a:ext cx="85206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dk1"/>
                </a:solidFill>
              </a:rPr>
              <a:t>Vehicle Count Prediction from Sensor Data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634924" cy="14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11700" y="3790847"/>
            <a:ext cx="8520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en" sz="1800" b="1" dirty="0">
                <a:solidFill>
                  <a:srgbClr val="0000FF"/>
                </a:solidFill>
              </a:rPr>
              <a:t>Department of Artificial Intelligence and Data Science</a:t>
            </a: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4250" y="3"/>
            <a:ext cx="79974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249400" y="1324850"/>
            <a:ext cx="7939500" cy="25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Objective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Problem Identification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Flow Diagram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Literature Survey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Research Methodology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Algorithm Comparison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Implementation Idea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Module Description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Conclusion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endParaRPr sz="2400" b="1" dirty="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PRESENTATION OVERVIEW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OBJECTIVE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Content 100"/>
          <p:cNvSpPr txBox="1"/>
          <p:nvPr/>
        </p:nvSpPr>
        <p:spPr>
          <a:xfrm>
            <a:off x="380000" y="950000"/>
            <a:ext cx="838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Continuously capture vehicle-passage data from roadside IoT sensors in real time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Clean and structure raw readings into time-indexed, model-ready traffic features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Train and compare ML/DL models to forecast near-term vehicle counts per road segment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Feed predictions into dashboards and alerts for proactive traffic control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Offer a low-cost, scalable alternative to manual and hardware-heavy counting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E3553134-2F63-CCE3-840E-4D6892A7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>
            <a:extLst>
              <a:ext uri="{FF2B5EF4-FFF2-40B4-BE49-F238E27FC236}">
                <a16:creationId xmlns:a16="http://schemas.microsoft.com/office/drawing/2014/main" id="{030BC34D-188A-4606-08C3-42B4094D7D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>
            <a:extLst>
              <a:ext uri="{FF2B5EF4-FFF2-40B4-BE49-F238E27FC236}">
                <a16:creationId xmlns:a16="http://schemas.microsoft.com/office/drawing/2014/main" id="{F97F3ED1-D2B3-A8FD-1FD4-46821E65E1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238BD73A-3828-0D5B-ED72-9B5230F61CC0}"/>
              </a:ext>
            </a:extLst>
          </p:cNvPr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400" b="1" dirty="0">
                <a:solidFill>
                  <a:srgbClr val="FF0000"/>
                </a:solidFill>
              </a:rPr>
              <a:t>PROBLEM IDENTIFICATION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Content 100"/>
          <p:cNvSpPr txBox="1"/>
          <p:nvPr/>
        </p:nvSpPr>
        <p:spPr>
          <a:xfrm>
            <a:off x="380000" y="950000"/>
            <a:ext cx="838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Urban traffic volume keeps rising, and fixed infrastructure cannot react to real-time conditions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Manual, fixed-schedule counting gives sparse, non-continuous data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Inductive loop sensors are costly to install and disrupt the road surface to repair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Camera systems are sensitive to weather and lighting and need heavy compute and storage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Signal control is reactive: decisions come after congestion has already built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Need: a low-cost, always-on sensing and forecasting system</a:t>
            </a:r>
          </a:p>
        </p:txBody>
      </p:sp>
    </p:spTree>
    <p:extLst>
      <p:ext uri="{BB962C8B-B14F-4D97-AF65-F5344CB8AC3E}">
        <p14:creationId xmlns:p14="http://schemas.microsoft.com/office/powerpoint/2010/main" val="2296469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FLOW DIAGRAM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Content 110"/>
          <p:cNvSpPr txBox="1"/>
          <p:nvPr/>
        </p:nvSpPr>
        <p:spPr>
          <a:xfrm>
            <a:off x="222000" y="1350000"/>
            <a:ext cx="1440000" cy="1000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400" b="1" dirty="0">
                <a:solidFill>
                  <a:srgbClr val="FFFFFF"/>
                </a:solidFill>
              </a:rPr>
              <a:t>Roadside IoT Sensors</a:t>
            </a:r>
          </a:p>
        </p:txBody>
      </p:sp>
      <p:sp>
        <p:nvSpPr>
          <p:cNvPr id="120" name="Content 120"/>
          <p:cNvSpPr txBox="1"/>
          <p:nvPr/>
        </p:nvSpPr>
        <p:spPr>
          <a:xfrm>
            <a:off x="222000" y="2450000"/>
            <a:ext cx="14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200" b="0" dirty="0">
                <a:solidFill>
                  <a:srgbClr val="000000"/>
                </a:solidFill>
              </a:rPr>
              <a:t>Ultrasonic / IR modules detect vehicle passes</a:t>
            </a:r>
          </a:p>
        </p:txBody>
      </p:sp>
      <p:cxnSp>
        <p:nvCxnSpPr>
          <p:cNvPr id="130" name="Arrow 130"/>
          <p:cNvCxnSpPr/>
          <p:nvPr/>
        </p:nvCxnSpPr>
        <p:spPr>
          <a:xfrm>
            <a:off x="1672000" y="1850000"/>
            <a:ext cx="28000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</p:cxnSp>
      <p:sp>
        <p:nvSpPr>
          <p:cNvPr id="111" name="Content 111"/>
          <p:cNvSpPr txBox="1"/>
          <p:nvPr/>
        </p:nvSpPr>
        <p:spPr>
          <a:xfrm>
            <a:off x="1962000" y="1350000"/>
            <a:ext cx="1440000" cy="10000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400" b="1" dirty="0">
                <a:solidFill>
                  <a:srgbClr val="FFFFFF"/>
                </a:solidFill>
              </a:rPr>
              <a:t>Edge Capture</a:t>
            </a:r>
          </a:p>
        </p:txBody>
      </p:sp>
      <p:sp>
        <p:nvSpPr>
          <p:cNvPr id="121" name="Content 121"/>
          <p:cNvSpPr txBox="1"/>
          <p:nvPr/>
        </p:nvSpPr>
        <p:spPr>
          <a:xfrm>
            <a:off x="1962000" y="2450000"/>
            <a:ext cx="14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200" b="0" dirty="0">
                <a:solidFill>
                  <a:srgbClr val="000000"/>
                </a:solidFill>
              </a:rPr>
              <a:t>Microcontroller logs and transmits events</a:t>
            </a:r>
          </a:p>
        </p:txBody>
      </p:sp>
      <p:cxnSp>
        <p:nvCxnSpPr>
          <p:cNvPr id="131" name="Arrow 131"/>
          <p:cNvCxnSpPr/>
          <p:nvPr/>
        </p:nvCxnSpPr>
        <p:spPr>
          <a:xfrm>
            <a:off x="3412000" y="1850000"/>
            <a:ext cx="28000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</p:cxnSp>
      <p:sp>
        <p:nvSpPr>
          <p:cNvPr id="112" name="Content 112"/>
          <p:cNvSpPr txBox="1"/>
          <p:nvPr/>
        </p:nvSpPr>
        <p:spPr>
          <a:xfrm>
            <a:off x="3702000" y="1350000"/>
            <a:ext cx="1440000" cy="1000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400" b="1" dirty="0">
                <a:solidFill>
                  <a:srgbClr val="FFFFFF"/>
                </a:solidFill>
              </a:rPr>
              <a:t>Data Pipeline</a:t>
            </a:r>
          </a:p>
        </p:txBody>
      </p:sp>
      <p:sp>
        <p:nvSpPr>
          <p:cNvPr id="122" name="Content 122"/>
          <p:cNvSpPr txBox="1"/>
          <p:nvPr/>
        </p:nvSpPr>
        <p:spPr>
          <a:xfrm>
            <a:off x="3702000" y="2450000"/>
            <a:ext cx="14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200" b="0" dirty="0">
                <a:solidFill>
                  <a:srgbClr val="000000"/>
                </a:solidFill>
              </a:rPr>
              <a:t>Storage, cleaning and time aggregation</a:t>
            </a:r>
          </a:p>
        </p:txBody>
      </p:sp>
      <p:cxnSp>
        <p:nvCxnSpPr>
          <p:cNvPr id="132" name="Arrow 132"/>
          <p:cNvCxnSpPr/>
          <p:nvPr/>
        </p:nvCxnSpPr>
        <p:spPr>
          <a:xfrm>
            <a:off x="5152000" y="1850000"/>
            <a:ext cx="28000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</p:cxnSp>
      <p:sp>
        <p:nvSpPr>
          <p:cNvPr id="113" name="Content 113"/>
          <p:cNvSpPr txBox="1"/>
          <p:nvPr/>
        </p:nvSpPr>
        <p:spPr>
          <a:xfrm>
            <a:off x="5442000" y="1350000"/>
            <a:ext cx="1440000" cy="10000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400" b="1" dirty="0">
                <a:solidFill>
                  <a:srgbClr val="FFFFFF"/>
                </a:solidFill>
              </a:rPr>
              <a:t>Prediction Model</a:t>
            </a:r>
          </a:p>
        </p:txBody>
      </p:sp>
      <p:sp>
        <p:nvSpPr>
          <p:cNvPr id="123" name="Content 123"/>
          <p:cNvSpPr txBox="1"/>
          <p:nvPr/>
        </p:nvSpPr>
        <p:spPr>
          <a:xfrm>
            <a:off x="5442000" y="2450000"/>
            <a:ext cx="14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200" b="0" dirty="0">
                <a:solidFill>
                  <a:srgbClr val="000000"/>
                </a:solidFill>
              </a:rPr>
              <a:t>ML / LSTM forecasts counts per segment</a:t>
            </a:r>
          </a:p>
        </p:txBody>
      </p:sp>
      <p:cxnSp>
        <p:nvCxnSpPr>
          <p:cNvPr id="133" name="Arrow 133"/>
          <p:cNvCxnSpPr/>
          <p:nvPr/>
        </p:nvCxnSpPr>
        <p:spPr>
          <a:xfrm>
            <a:off x="6892000" y="1850000"/>
            <a:ext cx="28000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</p:cxnSp>
      <p:sp>
        <p:nvSpPr>
          <p:cNvPr id="114" name="Content 114"/>
          <p:cNvSpPr txBox="1"/>
          <p:nvPr/>
        </p:nvSpPr>
        <p:spPr>
          <a:xfrm>
            <a:off x="7182000" y="1350000"/>
            <a:ext cx="1440000" cy="1000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400" b="1" dirty="0">
                <a:solidFill>
                  <a:srgbClr val="FFFFFF"/>
                </a:solidFill>
              </a:rPr>
              <a:t>Dashboard &amp; Alerts</a:t>
            </a:r>
          </a:p>
        </p:txBody>
      </p:sp>
      <p:sp>
        <p:nvSpPr>
          <p:cNvPr id="124" name="Content 124"/>
          <p:cNvSpPr txBox="1"/>
          <p:nvPr/>
        </p:nvSpPr>
        <p:spPr>
          <a:xfrm>
            <a:off x="7182000" y="2450000"/>
            <a:ext cx="14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200" b="0" dirty="0">
                <a:solidFill>
                  <a:srgbClr val="000000"/>
                </a:solidFill>
              </a:rPr>
              <a:t>Live insights and congestion alerts</a:t>
            </a:r>
          </a:p>
        </p:txBody>
      </p:sp>
      <p:sp>
        <p:nvSpPr>
          <p:cNvPr id="140" name="Content 140"/>
          <p:cNvSpPr txBox="1"/>
          <p:nvPr/>
        </p:nvSpPr>
        <p:spPr>
          <a:xfrm>
            <a:off x="380000" y="3750000"/>
            <a:ext cx="838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en" sz="1400" b="1" dirty="0">
                <a:solidFill>
                  <a:srgbClr val="0000FF"/>
                </a:solidFill>
              </a:rPr>
              <a:t>Data flows continuously from roadside sensors through to a live prediction dashboard, enabling forward-looking traffic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LITERATURE SURVEY (1/2)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/>
        </p:nvGraphicFramePr>
        <p:xfrm>
          <a:off x="260000" y="880000"/>
          <a:ext cx="8620000" cy="4140000"/>
        </p:xfrm>
        <a:graphic>
          <a:graphicData uri="http://schemas.openxmlformats.org/drawingml/2006/table">
            <a:tbl>
              <a:tblPr firstRow="1"/>
              <a:tblGrid>
                <a:gridCol w="3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Paper (venue, year)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Comprehensive review of traffic flow forecasting based on deep learning (Elsevier,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Compares node-level and network-level models; covers LLMs and multimodal fusion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Overview of Traffic Flow Prediction Research Based on Graph Neural Networks (Atlantis Press,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Summarises GNN methods from 2024-2025 and how they model road-network structure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Wang, Ren &amp; He: Traffic flow prediction based on graph convolutional networks: a survey (SPIE ITSSC,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Groups GCN variants into nine types and outlines future directions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A comprehensive review of traffic flow prediction: from traditional models to deep learning architectures (Digital Transportation and Safety,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Reviews ML and deep learning approaches, including LSTM, CNN and Transformer models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Wang et al.: Traffic flow prediction in ITS: a review of GNN and hybrid deep learning methods (Algorithms, 2026)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Covers GNN, attention and federated-learning based hybrid models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Cimen et al.: Traffic Volume Prediction with ATSPM Data (2023)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IoT signal-sensor data; Random Forest, XGBoost and LSTM predicted hourly volume best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Random Forest Regressor for traffic prediction (ITM Web of Conferences,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Random Forest beats conventional methods on MSE for hourly vehicle counts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Lam: Traffic Prediction Using LSTM, RF and XGBoost (DAML,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Predicts vehicle counts at four junctions; XGBoost best on precision and efficiency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LITERATURE SURVEY (2/2)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/>
        </p:nvGraphicFramePr>
        <p:xfrm>
          <a:off x="260000" y="880000"/>
          <a:ext cx="8620000" cy="4000000"/>
        </p:xfrm>
        <a:graphic>
          <a:graphicData uri="http://schemas.openxmlformats.org/drawingml/2006/table">
            <a:tbl>
              <a:tblPr firstRow="1"/>
              <a:tblGrid>
                <a:gridCol w="3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Paper (venue, year)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Ihama &amp; Amenaghawon: LSTM recurrent neural networks for short-term traffic prediction at intersections (FUDMA J. Sci.,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LSTM model for short-term traffic density at road junctions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Ma, Zhao &amp; Hou: Spatial-temporal Transformer networks for traffic flow forecasting using a pre-trained language model (Sensors,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Transformer-only design; beats STGNNs on most metrics across four public datasets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Yang, Wei &amp; Wang: STFEformer, spatial-temporal fusion embedding Transformer (Applied Sciences,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Fusion embedding layer; up to 5.6% lower MAE on PeMS08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Zhong et al.: Multi-scale persistent spatiotemporal Transformer for long-term urban traffic flow prediction (J. Electronic Sci. &amp; Tech.,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Multi-head attention encoder-decoder for long-term urban flow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Su et al.: Graph attention informer for long-term traffic flow prediction under the impact of sports events (Sensors,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Targets long-term flow forecasting during event-driven disruptions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Wang et al.: An improved Transformer-based traffic flow prediction model (Scientific Reports,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Improved Transformer architecture for traffic flow forecasting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Traffic speed sparse time series prediction model integrating spatiotemporal periodic features (AIMS Mathematics, 2026)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MSTSF model handles sparse sensor series; tested on Guangzhou and PeMS data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RESEARCH METHODOLOGY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Content 100"/>
          <p:cNvSpPr txBox="1"/>
          <p:nvPr/>
        </p:nvSpPr>
        <p:spPr>
          <a:xfrm>
            <a:off x="311700" y="880000"/>
            <a:ext cx="4200000" cy="1520000"/>
          </a:xfrm>
          <a:prstGeom prst="rect">
            <a:avLst/>
          </a:prstGeom>
          <a:solidFill>
            <a:srgbClr val="EAF0FA"/>
          </a:solidFill>
          <a:ln w="12700">
            <a:solidFill>
              <a:srgbClr val="002060"/>
            </a:solidFill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" sz="1500" b="1" dirty="0">
                <a:solidFill>
                  <a:srgbClr val="002060"/>
                </a:solidFill>
              </a:rPr>
              <a:t>Linear Regression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" sz="1200" b="0" dirty="0"/>
              <a:t>Fits a straight-line relationship between features (time of day, past counts) and vehicle count. Fast baseline, but misses non-linear rush-hour patterns.</a:t>
            </a:r>
          </a:p>
        </p:txBody>
      </p:sp>
      <p:sp>
        <p:nvSpPr>
          <p:cNvPr id="101" name="Content 101"/>
          <p:cNvSpPr txBox="1"/>
          <p:nvPr/>
        </p:nvSpPr>
        <p:spPr>
          <a:xfrm>
            <a:off x="4611700" y="880000"/>
            <a:ext cx="4200000" cy="1520000"/>
          </a:xfrm>
          <a:prstGeom prst="rect">
            <a:avLst/>
          </a:prstGeom>
          <a:solidFill>
            <a:srgbClr val="EAF0FA"/>
          </a:solidFill>
          <a:ln w="12700">
            <a:solidFill>
              <a:srgbClr val="002060"/>
            </a:solidFill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" sz="1500" b="1" dirty="0">
                <a:solidFill>
                  <a:srgbClr val="002060"/>
                </a:solidFill>
              </a:rPr>
              <a:t>Random Forest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" sz="1200" b="0" dirty="0"/>
              <a:t>Trains many decision trees on random data subsets and averages them. Handles non-linear features and reduces overfitting.</a:t>
            </a:r>
          </a:p>
        </p:txBody>
      </p:sp>
      <p:sp>
        <p:nvSpPr>
          <p:cNvPr id="102" name="Content 102"/>
          <p:cNvSpPr txBox="1"/>
          <p:nvPr/>
        </p:nvSpPr>
        <p:spPr>
          <a:xfrm>
            <a:off x="311700" y="2500000"/>
            <a:ext cx="4200000" cy="1520000"/>
          </a:xfrm>
          <a:prstGeom prst="rect">
            <a:avLst/>
          </a:prstGeom>
          <a:solidFill>
            <a:srgbClr val="EAF0FA"/>
          </a:solidFill>
          <a:ln w="12700">
            <a:solidFill>
              <a:srgbClr val="002060"/>
            </a:solidFill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" sz="1500" b="1" dirty="0">
                <a:solidFill>
                  <a:srgbClr val="002060"/>
                </a:solidFill>
              </a:rPr>
              <a:t>Support Vector Regression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" sz="1200" b="0" dirty="0"/>
              <a:t>Fits a function within an error margin using kernels. Works well on small, noisy data but slows down on large datasets.</a:t>
            </a:r>
          </a:p>
        </p:txBody>
      </p:sp>
      <p:sp>
        <p:nvSpPr>
          <p:cNvPr id="103" name="Content 103"/>
          <p:cNvSpPr txBox="1"/>
          <p:nvPr/>
        </p:nvSpPr>
        <p:spPr>
          <a:xfrm>
            <a:off x="4611700" y="2500000"/>
            <a:ext cx="4200000" cy="1520000"/>
          </a:xfrm>
          <a:prstGeom prst="rect">
            <a:avLst/>
          </a:prstGeom>
          <a:solidFill>
            <a:srgbClr val="EAF0FA"/>
          </a:solidFill>
          <a:ln w="12700">
            <a:solidFill>
              <a:srgbClr val="002060"/>
            </a:solidFill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" sz="1500" b="1" dirty="0">
                <a:solidFill>
                  <a:srgbClr val="002060"/>
                </a:solidFill>
              </a:rPr>
              <a:t>LSTM (Neural Network)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" sz="1200" b="0" dirty="0"/>
              <a:t>Recurrent network with memory gates that learns sequences such as rush hours and daily cycles. Chosen as the final forecasting model.</a:t>
            </a:r>
          </a:p>
        </p:txBody>
      </p:sp>
      <p:sp>
        <p:nvSpPr>
          <p:cNvPr id="110" name="Content 110"/>
          <p:cNvSpPr txBox="1"/>
          <p:nvPr/>
        </p:nvSpPr>
        <p:spPr>
          <a:xfrm>
            <a:off x="311700" y="4150000"/>
            <a:ext cx="85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FF"/>
                </a:solidFill>
              </a:rPr>
              <a:t>Steps: </a:t>
            </a:r>
            <a:r>
              <a:rPr lang="en" sz="1200" b="0" dirty="0"/>
              <a:t>collect sensor events &gt; preprocess (missing values, noise, fixed intervals) &gt; engineer features (time-of-day, day-of-week, rolling averages) &gt; train and tune &gt; evaluate (MAE, RMSE, R2).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ALGORITHM COMPARISON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/>
        </p:nvGraphicFramePr>
        <p:xfrm>
          <a:off x="311700" y="950000"/>
          <a:ext cx="8500000" cy="2800000"/>
        </p:xfrm>
        <a:graphic>
          <a:graphicData uri="http://schemas.openxmlformats.org/drawingml/2006/table">
            <a:tbl>
              <a:tblPr firstRow="1"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1" dirty="0">
                          <a:solidFill>
                            <a:srgbClr val="FFFFFF"/>
                          </a:solidFill>
                        </a:rPr>
                        <a:t>Sample accuracy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Linear Regression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78%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Simple, fast, easy to interpret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Cannot capture non-linear traffic peaks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87%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Robust to noise, handles non-linear data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Does not model time order directly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SVR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84%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Good on small, noisy datasets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Slow on large data; kernel tuning needed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LSTM (Neural Net)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92%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Learns rush-hour and daily sequences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Needs more data and training time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" name="Content 101"/>
          <p:cNvSpPr txBox="1"/>
          <p:nvPr/>
        </p:nvSpPr>
        <p:spPr>
          <a:xfrm>
            <a:off x="311700" y="3900000"/>
            <a:ext cx="85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1" dirty="0">
                <a:solidFill>
                  <a:srgbClr val="0000FF"/>
                </a:solidFill>
              </a:rPr>
              <a:t>Selected model: LSTM, highest sample accuracy. Accuracy figures are illustrative development results used for model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IMPLEMENTATION IDEA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Content 100"/>
          <p:cNvSpPr txBox="1"/>
          <p:nvPr/>
        </p:nvSpPr>
        <p:spPr>
          <a:xfrm>
            <a:off x="380000" y="950000"/>
            <a:ext cx="838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Hardware: ultrasonic / IR sensors with a microcontroller log timestamped vehicle-pass events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Transmit events to a central time-series store through a cloud data pipeline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Python back end (REST API) ingests and serves sensor data and handles model training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Preprocess with pandas; baselines in scikit-learn; LSTM in TensorFlow / Keras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Train on historical windows, tune, and validate on held-out data using MAE and RMSE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Publish forecasts to a live dashboard with congestion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38100" y="120750"/>
            <a:ext cx="9067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400"/>
            </a:pPr>
            <a:r>
              <a:rPr lang="en" sz="2400" b="1" dirty="0">
                <a:solidFill>
                  <a:srgbClr val="FF0000"/>
                </a:solidFill>
              </a:rPr>
              <a:t>MODULE DESCRIPTION</a:t>
            </a:r>
          </a:p>
        </p:txBody>
      </p:sp>
      <p:sp>
        <p:nvSpPr>
          <p:cNvPr id="100" name="Content 100"/>
          <p:cNvSpPr txBox="1"/>
          <p:nvPr/>
        </p:nvSpPr>
        <p:spPr>
          <a:xfrm>
            <a:off x="400000" y="900000"/>
            <a:ext cx="560000" cy="5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0" name="Content 120"/>
          <p:cNvSpPr txBox="1"/>
          <p:nvPr/>
        </p:nvSpPr>
        <p:spPr>
          <a:xfrm>
            <a:off x="1150000" y="900000"/>
            <a:ext cx="3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600" b="1" dirty="0">
                <a:solidFill>
                  <a:srgbClr val="002060"/>
                </a:solidFill>
              </a:rPr>
              <a:t>Sensor Data Acquisition</a:t>
            </a:r>
          </a:p>
        </p:txBody>
      </p:sp>
      <p:sp>
        <p:nvSpPr>
          <p:cNvPr id="140" name="Content 140"/>
          <p:cNvSpPr txBox="1"/>
          <p:nvPr/>
        </p:nvSpPr>
        <p:spPr>
          <a:xfrm>
            <a:off x="4200000" y="900000"/>
            <a:ext cx="4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0" dirty="0"/>
              <a:t>Capture timestamped vehicle-pass events from roadside sensors</a:t>
            </a:r>
          </a:p>
        </p:txBody>
      </p:sp>
      <p:sp>
        <p:nvSpPr>
          <p:cNvPr id="101" name="Content 101"/>
          <p:cNvSpPr txBox="1"/>
          <p:nvPr/>
        </p:nvSpPr>
        <p:spPr>
          <a:xfrm>
            <a:off x="400000" y="1700000"/>
            <a:ext cx="560000" cy="5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1" name="Content 121"/>
          <p:cNvSpPr txBox="1"/>
          <p:nvPr/>
        </p:nvSpPr>
        <p:spPr>
          <a:xfrm>
            <a:off x="1150000" y="1700000"/>
            <a:ext cx="3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600" b="1" dirty="0">
                <a:solidFill>
                  <a:srgbClr val="002060"/>
                </a:solidFill>
              </a:rPr>
              <a:t>Data Preprocessing</a:t>
            </a:r>
          </a:p>
        </p:txBody>
      </p:sp>
      <p:sp>
        <p:nvSpPr>
          <p:cNvPr id="141" name="Content 141"/>
          <p:cNvSpPr txBox="1"/>
          <p:nvPr/>
        </p:nvSpPr>
        <p:spPr>
          <a:xfrm>
            <a:off x="4200000" y="1700000"/>
            <a:ext cx="4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0" dirty="0"/>
              <a:t>Handle missing readings, remove noise, aggregate into fixed intervals</a:t>
            </a:r>
          </a:p>
        </p:txBody>
      </p:sp>
      <p:sp>
        <p:nvSpPr>
          <p:cNvPr id="102" name="Content 102"/>
          <p:cNvSpPr txBox="1"/>
          <p:nvPr/>
        </p:nvSpPr>
        <p:spPr>
          <a:xfrm>
            <a:off x="400000" y="2500000"/>
            <a:ext cx="560000" cy="5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2" name="Content 122"/>
          <p:cNvSpPr txBox="1"/>
          <p:nvPr/>
        </p:nvSpPr>
        <p:spPr>
          <a:xfrm>
            <a:off x="1150000" y="2500000"/>
            <a:ext cx="3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600" b="1" dirty="0">
                <a:solidFill>
                  <a:srgbClr val="002060"/>
                </a:solidFill>
              </a:rPr>
              <a:t>Feature Engineering</a:t>
            </a:r>
          </a:p>
        </p:txBody>
      </p:sp>
      <p:sp>
        <p:nvSpPr>
          <p:cNvPr id="142" name="Content 142"/>
          <p:cNvSpPr txBox="1"/>
          <p:nvPr/>
        </p:nvSpPr>
        <p:spPr>
          <a:xfrm>
            <a:off x="4200000" y="2500000"/>
            <a:ext cx="4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0" dirty="0"/>
              <a:t>Derive time-of-day, day-of-week and rolling traffic averages</a:t>
            </a:r>
          </a:p>
        </p:txBody>
      </p:sp>
      <p:sp>
        <p:nvSpPr>
          <p:cNvPr id="103" name="Content 103"/>
          <p:cNvSpPr txBox="1"/>
          <p:nvPr/>
        </p:nvSpPr>
        <p:spPr>
          <a:xfrm>
            <a:off x="400000" y="3300000"/>
            <a:ext cx="560000" cy="5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3" name="Content 123"/>
          <p:cNvSpPr txBox="1"/>
          <p:nvPr/>
        </p:nvSpPr>
        <p:spPr>
          <a:xfrm>
            <a:off x="1150000" y="3300000"/>
            <a:ext cx="3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600" b="1" dirty="0">
                <a:solidFill>
                  <a:srgbClr val="002060"/>
                </a:solidFill>
              </a:rPr>
              <a:t>Prediction Model</a:t>
            </a:r>
          </a:p>
        </p:txBody>
      </p:sp>
      <p:sp>
        <p:nvSpPr>
          <p:cNvPr id="143" name="Content 143"/>
          <p:cNvSpPr txBox="1"/>
          <p:nvPr/>
        </p:nvSpPr>
        <p:spPr>
          <a:xfrm>
            <a:off x="4200000" y="3300000"/>
            <a:ext cx="4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0" dirty="0"/>
              <a:t>Train, tune and compare regression and LSTM forecasting models</a:t>
            </a:r>
          </a:p>
        </p:txBody>
      </p:sp>
      <p:sp>
        <p:nvSpPr>
          <p:cNvPr id="104" name="Content 104"/>
          <p:cNvSpPr txBox="1"/>
          <p:nvPr/>
        </p:nvSpPr>
        <p:spPr>
          <a:xfrm>
            <a:off x="400000" y="4100000"/>
            <a:ext cx="560000" cy="5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4" name="Content 124"/>
          <p:cNvSpPr txBox="1"/>
          <p:nvPr/>
        </p:nvSpPr>
        <p:spPr>
          <a:xfrm>
            <a:off x="1150000" y="4100000"/>
            <a:ext cx="3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600" b="1" dirty="0">
                <a:solidFill>
                  <a:srgbClr val="002060"/>
                </a:solidFill>
              </a:rPr>
              <a:t>Dashboard &amp; Alerts</a:t>
            </a:r>
          </a:p>
        </p:txBody>
      </p:sp>
      <p:sp>
        <p:nvSpPr>
          <p:cNvPr id="144" name="Content 144"/>
          <p:cNvSpPr txBox="1"/>
          <p:nvPr/>
        </p:nvSpPr>
        <p:spPr>
          <a:xfrm>
            <a:off x="4200000" y="4100000"/>
            <a:ext cx="4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0" dirty="0"/>
              <a:t>Show live counts, forecasts and congestion warnings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CONCLUSION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Content 100"/>
          <p:cNvSpPr txBox="1"/>
          <p:nvPr/>
        </p:nvSpPr>
        <p:spPr>
          <a:xfrm>
            <a:off x="380000" y="950000"/>
            <a:ext cx="838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A sensor-driven prediction pipeline turns raw traffic data into forward-looking insight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LSTM captured sequential traffic patterns best in the sample comparison; Random Forest and SVR remain lighter baselines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Replaces reactive monitoring with proactive, data-driven traffic management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Future scope: wider sensor coverage, ensemble and deeper sequence models, live weather and event data, automated adaptive signal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38100" y="1835250"/>
            <a:ext cx="9067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chemeClr val="dk1"/>
                </a:solidFill>
              </a:rPr>
              <a:t>THANK YOU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1237</Words>
  <Application>Microsoft Office PowerPoint</Application>
  <PresentationFormat>On-screen Show (16:9)</PresentationFormat>
  <Paragraphs>167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Simple Light</vt:lpstr>
      <vt:lpstr>AGI1242 – MACHINE LEARNING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NAKUL R</dc:creator>
  <cp:lastModifiedBy>Subhiksha Chandramouli</cp:lastModifiedBy>
  <cp:revision>11</cp:revision>
  <dcterms:modified xsi:type="dcterms:W3CDTF">2026-10-05T02:34:55Z</dcterms:modified>
</cp:coreProperties>
</file>